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731520"/>
            <a:ext cx="3383280" cy="3383280"/>
          </a:xfrm>
          <a:prstGeom prst="ellipse">
            <a:avLst/>
          </a:prstGeom>
          <a:solidFill>
            <a:srgbClr val="142347"/>
          </a:solidFill>
          <a:ln w="12700">
            <a:solidFill>
              <a:srgbClr val="1423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77724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Tool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High-Level Walkthrough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3429000"/>
            <a:ext cx="4114800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Full-Context · No-RAG · PyMuPDF · Pydantic v2 · OpenAI-Compatible Client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914400"/>
            <a:ext cx="475488" cy="475488"/>
          </a:xfrm>
          <a:prstGeom prst="ellipse">
            <a:avLst/>
          </a:prstGeom>
          <a:solidFill>
            <a:srgbClr val="0A7EA4">
              <a:alpha val="30000"/>
            </a:srgbClr>
          </a:solidFill>
          <a:ln w="12700">
            <a:solidFill>
              <a:srgbClr val="0A7EA4">
                <a:alpha val="3000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2" y="987552"/>
            <a:ext cx="329184" cy="32918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46720" y="1828800"/>
            <a:ext cx="475488" cy="475488"/>
          </a:xfrm>
          <a:prstGeom prst="ellipse">
            <a:avLst/>
          </a:prstGeom>
          <a:solidFill>
            <a:srgbClr val="0A7EA4">
              <a:alpha val="30000"/>
            </a:srgbClr>
          </a:solidFill>
          <a:ln w="12700">
            <a:solidFill>
              <a:srgbClr val="0A7EA4">
                <a:alpha val="30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1901952"/>
            <a:ext cx="329184" cy="3291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949440" y="2743200"/>
            <a:ext cx="475488" cy="475488"/>
          </a:xfrm>
          <a:prstGeom prst="ellipse">
            <a:avLst/>
          </a:prstGeom>
          <a:solidFill>
            <a:srgbClr val="0A7EA4">
              <a:alpha val="30000"/>
            </a:srgbClr>
          </a:solidFill>
          <a:ln w="12700">
            <a:solidFill>
              <a:srgbClr val="0A7EA4">
                <a:alpha val="3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2816352"/>
            <a:ext cx="329184" cy="32918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863840" y="3520440"/>
            <a:ext cx="475488" cy="475488"/>
          </a:xfrm>
          <a:prstGeom prst="ellipse">
            <a:avLst/>
          </a:prstGeom>
          <a:solidFill>
            <a:srgbClr val="0A7EA4">
              <a:alpha val="30000"/>
            </a:srgbClr>
          </a:solidFill>
          <a:ln w="12700">
            <a:solidFill>
              <a:srgbClr val="0A7EA4">
                <a:alpha val="30000"/>
              </a:srgbClr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593592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5176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87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9768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solves and why it matters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54680" y="82296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822960"/>
            <a:ext cx="265176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987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64408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RAG?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failure modes of chunk-based retrieval for legal comparison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82296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822960"/>
            <a:ext cx="265176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9048" y="987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99048" y="1353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9048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pipeline — extract, annotate, call, validate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33172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331720"/>
            <a:ext cx="265176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4963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29768" y="2862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schemas and structured LLM output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54680" y="233172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331720"/>
            <a:ext cx="265176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24963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264408" y="2862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64408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 from CLI to Markdown report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89320" y="2331720"/>
            <a:ext cx="265176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9320" y="2331720"/>
            <a:ext cx="2651760" cy="73152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99048" y="24963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099048" y="2862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99048" y="31546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Trade-offs, token guard, and extension points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and procurement teams must compare offer letters against master agreements — a process that is time-consuming, error-prone, and inconsistent across reviewers.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6400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review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43-page document can take an experienced reviewer 2–4 hours to cross-check.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816352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816352"/>
            <a:ext cx="6400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07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errors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1363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miss subtle changes in obligations, timelines, or conditions.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712464"/>
            <a:ext cx="40233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712464"/>
            <a:ext cx="64008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03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3250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reviewers apply different materiality thresholds.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804672"/>
            <a:ext cx="4069080" cy="3931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135331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clause-by-clause comparison in a single LLM call — returning a validated, structured deviation table with page references for both documents.</a:t>
            </a:r>
            <a:endParaRPr lang="en-US" sz="11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240280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285232" y="2212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deviation detection</a:t>
            </a:r>
            <a:endParaRPr lang="en-US" sz="10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715768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85232" y="26883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Omission flagging (clause absent from offer)</a:t>
            </a:r>
            <a:endParaRPr lang="en-US" sz="10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191256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85232" y="3163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flagging (clause absent from base)</a:t>
            </a:r>
            <a:endParaRPr lang="en-US" sz="10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666744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85232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page references for both documents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RAG? — Three Critical Failure Modes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834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1024128"/>
            <a:ext cx="694944" cy="6949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113385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2336" y="18745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Destroys Clause Context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2336" y="2423160"/>
            <a:ext cx="25786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termination clause spanning 3 paragraphs — condition, notice period, remedy — gets split into separate chunks. The retrieved fragment loses surrounding conditions that define its legal meaning, producing silent false negatives.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27832" y="804672"/>
            <a:ext cx="2834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27832" y="804672"/>
            <a:ext cx="28346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024128"/>
            <a:ext cx="694944" cy="6949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13385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55848" y="18745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 ≠ Legal Materiality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55848" y="2423160"/>
            <a:ext cx="25786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clauses can be worded very differently but mean the same thing (no deviation), or sound nearly identical but differ in one word — "may" vs "shall" — which is a material deviation. Cosine similarity is a poor proxy for legal reasoning.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81344" y="804672"/>
            <a:ext cx="28346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81344" y="804672"/>
            <a:ext cx="283464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251192" y="1024128"/>
            <a:ext cx="694944" cy="6949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33856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187452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Omission Detection is Impossible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09360" y="2423160"/>
            <a:ext cx="25786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clause present in the base is entirely absent from the offer, there is nothing to retrieve against. The retrieval step produces no candidate and the omission is silently missed — the most dangerous failure mode in contract review.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Full-Context vs RAG — Side-by-Side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46888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88920" y="804672"/>
            <a:ext cx="292608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8046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Approach 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804672"/>
            <a:ext cx="32004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8046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Full-Context Approach 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34440"/>
            <a:ext cx="24688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710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needed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88920" y="1234440"/>
            <a:ext cx="2926080" cy="566928"/>
          </a:xfrm>
          <a:prstGeom prst="rect">
            <a:avLst/>
          </a:prstGeom>
          <a:solidFill>
            <a:srgbClr val="FEE2E2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127101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~25K tokens per doc (one at a time)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760720" y="1234440"/>
            <a:ext cx="3200400" cy="566928"/>
          </a:xfrm>
          <a:prstGeom prst="rect">
            <a:avLst/>
          </a:prstGeom>
          <a:solidFill>
            <a:srgbClr val="D1FA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27101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~50K tokens total (both docs at once)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847088"/>
            <a:ext cx="2468880" cy="56692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88366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Omission detection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88920" y="1847088"/>
            <a:ext cx="2926080" cy="566928"/>
          </a:xfrm>
          <a:prstGeom prst="rect">
            <a:avLst/>
          </a:prstGeom>
          <a:solidFill>
            <a:srgbClr val="FEE2E2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1883664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possible — nothing to retrieve against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60720" y="1847088"/>
            <a:ext cx="3200400" cy="566928"/>
          </a:xfrm>
          <a:prstGeom prst="rect">
            <a:avLst/>
          </a:prstGeom>
          <a:solidFill>
            <a:srgbClr val="D1FA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88366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— LLM sees both docs in full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459736"/>
            <a:ext cx="24688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963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Cross-clause refs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88920" y="2459736"/>
            <a:ext cx="2926080" cy="566928"/>
          </a:xfrm>
          <a:prstGeom prst="rect">
            <a:avLst/>
          </a:prstGeom>
          <a:solidFill>
            <a:srgbClr val="FEE2E2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249631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by chunking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60720" y="2459736"/>
            <a:ext cx="3200400" cy="566928"/>
          </a:xfrm>
          <a:prstGeom prst="rect">
            <a:avLst/>
          </a:prstGeom>
          <a:solidFill>
            <a:srgbClr val="D1FA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249631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preserved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072384"/>
            <a:ext cx="2468880" cy="56692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08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nuance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88920" y="3072384"/>
            <a:ext cx="2926080" cy="566928"/>
          </a:xfrm>
          <a:prstGeom prst="rect">
            <a:avLst/>
          </a:prstGeom>
          <a:solidFill>
            <a:srgbClr val="FEE2E2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31089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embedding space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60720" y="3072384"/>
            <a:ext cx="3200400" cy="566928"/>
          </a:xfrm>
          <a:prstGeom prst="rect">
            <a:avLst/>
          </a:prstGeom>
          <a:solidFill>
            <a:srgbClr val="D1FA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3108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Reasoned directly by the LLM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685032"/>
            <a:ext cx="2468880" cy="56692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7216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88920" y="3685032"/>
            <a:ext cx="2926080" cy="566928"/>
          </a:xfrm>
          <a:prstGeom prst="rect">
            <a:avLst/>
          </a:prstGeom>
          <a:solidFill>
            <a:srgbClr val="FEE2E2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80360" y="37216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Chroma, embeddings model, retriever chain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60720" y="3685032"/>
            <a:ext cx="3200400" cy="566928"/>
          </a:xfrm>
          <a:prstGeom prst="rect">
            <a:avLst/>
          </a:prstGeom>
          <a:solidFill>
            <a:srgbClr val="D1FA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372160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client only — nothing else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297680"/>
            <a:ext cx="2468880" cy="56692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3342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88920" y="4297680"/>
            <a:ext cx="2926080" cy="566928"/>
          </a:xfrm>
          <a:prstGeom prst="rect">
            <a:avLst/>
          </a:prstGeom>
          <a:solidFill>
            <a:srgbClr val="FEE2E2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0360" y="433425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sequential round-trips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60720" y="4297680"/>
            <a:ext cx="3200400" cy="566928"/>
          </a:xfrm>
          <a:prstGeom prst="rect">
            <a:avLst/>
          </a:prstGeom>
          <a:solidFill>
            <a:srgbClr val="D1FA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52160" y="433425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API call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Four-Stage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68680"/>
            <a:ext cx="192024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069848"/>
            <a:ext cx="694944" cy="69494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17957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47472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258568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(fitz) extracts PDF text blocks per page. python-docx extracts Word paragraphs with page-break tracking.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80844" y="2514600"/>
            <a:ext cx="91440" cy="0"/>
          </a:xfrm>
          <a:prstGeom prst="line">
            <a:avLst/>
          </a:prstGeom>
          <a:noFill/>
          <a:ln w="22860">
            <a:solidFill>
              <a:srgbClr val="0A7EA4"/>
            </a:solidFill>
            <a:prstDash val="solid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2267712" y="86868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267712" y="868680"/>
            <a:ext cx="192024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80360" y="1069848"/>
            <a:ext cx="694944" cy="69494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1179576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59152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359152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377440" y="2258568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inference tags each paragraph with the nearest heading. Prompt builder prefixes each para with [index. page | §section].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192524" y="2514600"/>
            <a:ext cx="91440" cy="0"/>
          </a:xfrm>
          <a:prstGeom prst="line">
            <a:avLst/>
          </a:prstGeom>
          <a:noFill/>
          <a:ln w="22860">
            <a:solidFill>
              <a:srgbClr val="0A7EA4"/>
            </a:solidFill>
            <a:prstDash val="solid"/>
            <a:tailEnd type="arrow"/>
          </a:ln>
        </p:spPr>
      </p:sp>
      <p:sp>
        <p:nvSpPr>
          <p:cNvPr id="20" name="Shape 16"/>
          <p:cNvSpPr/>
          <p:nvPr/>
        </p:nvSpPr>
        <p:spPr>
          <a:xfrm>
            <a:off x="4279392" y="86868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279392" y="868680"/>
            <a:ext cx="192024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892040" y="1069848"/>
            <a:ext cx="694944" cy="69494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179576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70832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370832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389120" y="2258568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API call with response_format: json_object. Token guard verifies fit within 85% of context limit before calling.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204204" y="2514600"/>
            <a:ext cx="91440" cy="0"/>
          </a:xfrm>
          <a:prstGeom prst="line">
            <a:avLst/>
          </a:prstGeom>
          <a:noFill/>
          <a:ln w="22860">
            <a:solidFill>
              <a:srgbClr val="0A7EA4"/>
            </a:solidFill>
            <a:prstDash val="solid"/>
            <a:tailEnd type="arrow"/>
          </a:ln>
        </p:spPr>
      </p:sp>
      <p:sp>
        <p:nvSpPr>
          <p:cNvPr id="28" name="Shape 23"/>
          <p:cNvSpPr/>
          <p:nvPr/>
        </p:nvSpPr>
        <p:spPr>
          <a:xfrm>
            <a:off x="6291072" y="868680"/>
            <a:ext cx="19202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291072" y="868680"/>
            <a:ext cx="1920240" cy="640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903720" y="1069848"/>
            <a:ext cx="694944" cy="694944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179576"/>
            <a:ext cx="475488" cy="4754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382512" y="960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382512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6400800" y="2258568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model_validate() enforces schema. deviation is always bool. @model_validator enforces comment rules.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256032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base.pdf + 📝 offer.docx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649224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comparison_report.md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Document Extraction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778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8046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— PyMuPDF (fitz)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4048" y="1298448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" y="1298448"/>
            <a:ext cx="64008" cy="5669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208" y="13898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MuPDF C library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" y="161848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5–10× faster than pdfplumber's pure-Python pdfminer engine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" y="1938528"/>
            <a:ext cx="37947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84048" y="1938528"/>
            <a:ext cx="64008" cy="5669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1208" y="20299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get_text("blocks", sort=True)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1208" y="22585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pre-grouped text blocks in reading order. Each block is a 7-tuple: (x0, y0, x1, y1, text, block_no, block_type)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4048" y="2578608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84048" y="2578608"/>
            <a:ext cx="64008" cy="5669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" y="26700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block_type == 0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21208" y="289864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block. block_type == 1 is image — skipped automatically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84048" y="3218688"/>
            <a:ext cx="37947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84048" y="3218688"/>
            <a:ext cx="64008" cy="5669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208" y="33101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tracking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21208" y="35387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pages with start=1 for 1-based page numbers in the output table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84048" y="3858768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84048" y="3858768"/>
            <a:ext cx="64008" cy="5669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1208" y="39502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21208" y="417880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shorter than 30 characters are discarded — headers, footers, page numbers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46320" y="804672"/>
            <a:ext cx="40233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877824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285232" y="8046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— python-docx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956048" y="1298448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956048" y="1298448"/>
            <a:ext cx="64008" cy="566928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093208" y="13898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doc.paragraphs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093208" y="161848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all paragraph objects in document order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956048" y="1938528"/>
            <a:ext cx="37947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4956048" y="1938528"/>
            <a:ext cx="64008" cy="566928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093208" y="20299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run.contains_page_break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5093208" y="225856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explicit page-break characters embedded in text runs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956048" y="2578608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4956048" y="2578608"/>
            <a:ext cx="64008" cy="566928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093208" y="26700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page counter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5093208" y="289864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incremented on each page break — tracks pagination from document structure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4956048" y="3218688"/>
            <a:ext cx="37947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4956048" y="3218688"/>
            <a:ext cx="64008" cy="566928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093208" y="33101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30-char filter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5093208" y="353872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paragraphs discarded — list labels, blank lines, table captions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4956048" y="3858768"/>
            <a:ext cx="37947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4956048" y="3858768"/>
            <a:ext cx="64008" cy="566928"/>
          </a:xfrm>
          <a:prstGeom prst="rect">
            <a:avLst/>
          </a:prstGeom>
          <a:solidFill>
            <a:srgbClr val="5BB8D4"/>
          </a:solidFill>
          <a:ln w="12700">
            <a:solidFill>
              <a:srgbClr val="5BB8D4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093208" y="39502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51" name="Text 47"/>
          <p:cNvSpPr/>
          <p:nvPr/>
        </p:nvSpPr>
        <p:spPr>
          <a:xfrm>
            <a:off x="5093208" y="4178808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page breaks from layout are not detectable — only explicit breaks are counted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Section Inference &amp; Prompt Construction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Inference Heuristic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161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paragraph is treated as a heading if ALL three hold: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4630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435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words or fewer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87452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end with a period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286000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792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Title-cased, ALL CAPS, or matches /^\d+[.)]/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320040" y="27432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paragraph is tagged with the last seen heading. Uses Pydantic model_copy(update={}) — original objects are never mutated.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663440" y="841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Block Format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663440" y="1161288"/>
            <a:ext cx="4251960" cy="3108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754880" y="12344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BASE DOCUMENT — contract.pdf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4754880" y="159105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 p.1 | §Preamble] This Agreement is entered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4754880" y="176936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 between Party A and Party B...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4754880" y="212598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[7. p.3 | §Employment Terms] The employee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4754880" y="230428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shall receive a base salary of $120,000...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4754880" y="266090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LETTER OF OFFER — offer.docx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754880" y="30175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[1. p.1 | §Preamble] This Offer Letter is made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4754880" y="319582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the Employer and the Employee...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4754880" y="35524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[5. p.2 | §Compensation] Base salary is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754880" y="373075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at $115,000 per annum...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663440" y="43434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paragraph carries 3 metadata fields: index (for LLM reference), page (for output table), section (for output table). No retrieval step needed.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&amp; 4 — LLM Call and Pydantic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Guard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61288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61288"/>
            <a:ext cx="64008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527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estimate_tokens()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tiktoken cl100k_base (fallback for OSS model names not in registry). If prompt &gt; 85% of context limit, execution halts with a clear error.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65376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65376"/>
            <a:ext cx="64008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56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headroom rule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185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128K context, ~19K tokens reserved for completion. 60 deviation items in JSON ≈ 4K tokens. Buffer is deliberately conservative.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569464"/>
            <a:ext cx="4114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69464"/>
            <a:ext cx="64008" cy="65836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609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response_format: json_object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889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parameter that forces valid JSON output — no markdown fences, no prose preamble, no post-processing needed.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841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Structured Output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161288"/>
            <a:ext cx="4206240" cy="2980944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2344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DeviationItem(BaseModel):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773168" y="14081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item_no:          int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773168" y="15819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section:          str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773168" y="17556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base_page:        int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773168" y="192938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compare_page:     int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773168" y="21031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base_paragraph:   str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773168" y="22768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compare_paragraph:str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773168" y="245059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deviation:        bool   # ← always bool, never string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773168" y="26243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comments:         Optional[str]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773168" y="29718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@model_validator(mode="after")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773168" y="314553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comment_required(self):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773168" y="33192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self.deviation and not self.comments: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773168" y="34930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ValueError(...)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773168" y="36667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4709160" y="420624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is always a Python bool. model_validate() enforces the schema. @model_validator cross-checks: comments required when deviation=True, cleared when False.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1115568" cy="32918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22960"/>
            <a:ext cx="1115568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987552"/>
            <a:ext cx="548640" cy="5486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07899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5176" y="914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6032" y="1627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65176" y="1938528"/>
            <a:ext cx="9875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--base, --compare,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--model, --base-url,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--context-limit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1321308" y="2468880"/>
            <a:ext cx="73152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1389888" y="822960"/>
            <a:ext cx="1115568" cy="32918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389888" y="822960"/>
            <a:ext cx="1115568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73352" y="987552"/>
            <a:ext cx="548640" cy="5486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107899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53896" y="914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444752" y="1627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453896" y="1938528"/>
            <a:ext cx="9875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load_pdf() &amp; load_docx()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paragraphs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page metadata</a:t>
            </a:r>
            <a:endParaRPr lang="en-US" sz="880" dirty="0"/>
          </a:p>
        </p:txBody>
      </p:sp>
      <p:sp>
        <p:nvSpPr>
          <p:cNvPr id="19" name="Shape 15"/>
          <p:cNvSpPr/>
          <p:nvPr/>
        </p:nvSpPr>
        <p:spPr>
          <a:xfrm>
            <a:off x="2510028" y="2468880"/>
            <a:ext cx="73152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  <a:tailEnd type="arrow"/>
          </a:ln>
        </p:spPr>
      </p:sp>
      <p:sp>
        <p:nvSpPr>
          <p:cNvPr id="20" name="Shape 16"/>
          <p:cNvSpPr/>
          <p:nvPr/>
        </p:nvSpPr>
        <p:spPr>
          <a:xfrm>
            <a:off x="2578608" y="822960"/>
            <a:ext cx="1115568" cy="32918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578608" y="822960"/>
            <a:ext cx="1115568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862072" y="987552"/>
            <a:ext cx="548640" cy="5486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512" y="1078992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642616" y="914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2633472" y="1627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2642616" y="1938528"/>
            <a:ext cx="9875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infer_sections() tags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headings; prompt builder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both docs</a:t>
            </a:r>
            <a:endParaRPr lang="en-US" sz="880" dirty="0"/>
          </a:p>
        </p:txBody>
      </p:sp>
      <p:sp>
        <p:nvSpPr>
          <p:cNvPr id="27" name="Shape 22"/>
          <p:cNvSpPr/>
          <p:nvPr/>
        </p:nvSpPr>
        <p:spPr>
          <a:xfrm>
            <a:off x="3698748" y="2468880"/>
            <a:ext cx="73152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  <a:tailEnd type="arrow"/>
          </a:ln>
        </p:spPr>
      </p:sp>
      <p:sp>
        <p:nvSpPr>
          <p:cNvPr id="28" name="Shape 23"/>
          <p:cNvSpPr/>
          <p:nvPr/>
        </p:nvSpPr>
        <p:spPr>
          <a:xfrm>
            <a:off x="3767328" y="822960"/>
            <a:ext cx="1115568" cy="32918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67328" y="822960"/>
            <a:ext cx="111556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050792" y="987552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232" y="1078992"/>
            <a:ext cx="36576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831336" y="914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822192" y="1627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Check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3831336" y="1938528"/>
            <a:ext cx="9875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estimate_tokens()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fit within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context limit</a:t>
            </a:r>
            <a:endParaRPr lang="en-US" sz="880" dirty="0"/>
          </a:p>
        </p:txBody>
      </p:sp>
      <p:sp>
        <p:nvSpPr>
          <p:cNvPr id="35" name="Shape 29"/>
          <p:cNvSpPr/>
          <p:nvPr/>
        </p:nvSpPr>
        <p:spPr>
          <a:xfrm>
            <a:off x="4887468" y="2468880"/>
            <a:ext cx="7315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arrow"/>
          </a:ln>
        </p:spPr>
      </p:sp>
      <p:sp>
        <p:nvSpPr>
          <p:cNvPr id="36" name="Shape 30"/>
          <p:cNvSpPr/>
          <p:nvPr/>
        </p:nvSpPr>
        <p:spPr>
          <a:xfrm>
            <a:off x="4956048" y="822960"/>
            <a:ext cx="1115568" cy="32918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4956048" y="822960"/>
            <a:ext cx="1115568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239512" y="987552"/>
            <a:ext cx="548640" cy="5486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0952" y="1078992"/>
            <a:ext cx="365760" cy="3657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020056" y="914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5010912" y="1627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5020056" y="1938528"/>
            <a:ext cx="9875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API call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json_object format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</a:t>
            </a:r>
            <a:endParaRPr lang="en-US" sz="880" dirty="0"/>
          </a:p>
        </p:txBody>
      </p:sp>
      <p:sp>
        <p:nvSpPr>
          <p:cNvPr id="43" name="Shape 36"/>
          <p:cNvSpPr/>
          <p:nvPr/>
        </p:nvSpPr>
        <p:spPr>
          <a:xfrm>
            <a:off x="6076188" y="2468880"/>
            <a:ext cx="73152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  <a:tailEnd type="arrow"/>
          </a:ln>
        </p:spPr>
      </p:sp>
      <p:sp>
        <p:nvSpPr>
          <p:cNvPr id="44" name="Shape 37"/>
          <p:cNvSpPr/>
          <p:nvPr/>
        </p:nvSpPr>
        <p:spPr>
          <a:xfrm>
            <a:off x="6144768" y="822960"/>
            <a:ext cx="1115568" cy="32918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6144768" y="822960"/>
            <a:ext cx="1115568" cy="457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428232" y="987552"/>
            <a:ext cx="548640" cy="54864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1078992"/>
            <a:ext cx="365760" cy="36576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208776" y="914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6199632" y="1627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50" name="Text 42"/>
          <p:cNvSpPr/>
          <p:nvPr/>
        </p:nvSpPr>
        <p:spPr>
          <a:xfrm>
            <a:off x="6208776" y="1938528"/>
            <a:ext cx="9875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model_validate()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Pydantic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— bool deviation</a:t>
            </a:r>
            <a:endParaRPr lang="en-US" sz="880" dirty="0"/>
          </a:p>
        </p:txBody>
      </p:sp>
      <p:sp>
        <p:nvSpPr>
          <p:cNvPr id="51" name="Shape 43"/>
          <p:cNvSpPr/>
          <p:nvPr/>
        </p:nvSpPr>
        <p:spPr>
          <a:xfrm>
            <a:off x="7264908" y="2468880"/>
            <a:ext cx="73152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  <a:tailEnd type="arrow"/>
          </a:ln>
        </p:spPr>
      </p:sp>
      <p:sp>
        <p:nvSpPr>
          <p:cNvPr id="52" name="Shape 44"/>
          <p:cNvSpPr/>
          <p:nvPr/>
        </p:nvSpPr>
        <p:spPr>
          <a:xfrm>
            <a:off x="7333488" y="822960"/>
            <a:ext cx="1115568" cy="329184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3" name="Shape 45"/>
          <p:cNvSpPr/>
          <p:nvPr/>
        </p:nvSpPr>
        <p:spPr>
          <a:xfrm>
            <a:off x="7333488" y="822960"/>
            <a:ext cx="1115568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7616952" y="987552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392" y="1078992"/>
            <a:ext cx="365760" cy="365760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7397496" y="914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7" name="Text 48"/>
          <p:cNvSpPr/>
          <p:nvPr/>
        </p:nvSpPr>
        <p:spPr>
          <a:xfrm>
            <a:off x="7388352" y="1627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58" name="Text 49"/>
          <p:cNvSpPr/>
          <p:nvPr/>
        </p:nvSpPr>
        <p:spPr>
          <a:xfrm>
            <a:off x="7397496" y="1938528"/>
            <a:ext cx="98755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render_markdown()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deviation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to .md file</a:t>
            </a:r>
            <a:endParaRPr lang="en-US" sz="880" dirty="0"/>
          </a:p>
        </p:txBody>
      </p:sp>
      <p:sp>
        <p:nvSpPr>
          <p:cNvPr id="59" name="Text 50"/>
          <p:cNvSpPr/>
          <p:nvPr/>
        </p:nvSpPr>
        <p:spPr>
          <a:xfrm>
            <a:off x="201168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base.pdf + 📝 offer.docx</a:t>
            </a:r>
            <a:endParaRPr lang="en-US" sz="900" dirty="0"/>
          </a:p>
        </p:txBody>
      </p:sp>
      <p:sp>
        <p:nvSpPr>
          <p:cNvPr id="60" name="Text 51"/>
          <p:cNvSpPr/>
          <p:nvPr/>
        </p:nvSpPr>
        <p:spPr>
          <a:xfrm>
            <a:off x="6583680" y="4206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comparison_report.md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Markdown Deviation Table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columns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90472"/>
            <a:ext cx="3474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item number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3657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9164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011680"/>
            <a:ext cx="3474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heading from base doc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12848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12848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304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PDF Page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532888"/>
            <a:ext cx="3474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in base PDF (0 = absent)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34056"/>
            <a:ext cx="3657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34056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254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Doc Page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054096"/>
            <a:ext cx="3474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in offer doc (0 = absent)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255264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255264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346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Paragraph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575304"/>
            <a:ext cx="3474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text from base (truncated 300 chars)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76472"/>
            <a:ext cx="365760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76472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867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Paragraph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096512"/>
            <a:ext cx="3474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clause from offer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3657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297680"/>
            <a:ext cx="64008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389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4617720"/>
            <a:ext cx="34747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one-sentence deviation explanation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51960" y="8412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170432"/>
          <a:ext cx="466344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371600"/>
                <a:gridCol w="457200"/>
                <a:gridCol w="45720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 Terms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reduced from $120K to $115K in offer letter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 period reduced from 30 days to 14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Clause present in base but entirely absent from offer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Governing Law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Jurisdiction changed from New York to Singapore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 &amp; Extension 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04672"/>
            <a:ext cx="19202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04672"/>
            <a:ext cx="192024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987552"/>
            <a:ext cx="640080" cy="64008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097280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764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LangChain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2267712"/>
            <a:ext cx="1700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RAG removed, openai client alone handles everything. Fewer dependencies, less abstraction overhead, simpler debugging.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13432" y="804672"/>
            <a:ext cx="19202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313432" y="804672"/>
            <a:ext cx="1920240" cy="5486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53512" y="987552"/>
            <a:ext cx="640080" cy="640080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09728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04872" y="1764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json_object + Pydantic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423160" y="2267712"/>
            <a:ext cx="1700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API-enforced JSON + model_validate() = zero string matching. deviation is always bool — not "yes", "YES", or "true".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370832" y="804672"/>
            <a:ext cx="19202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70832" y="804672"/>
            <a:ext cx="1920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010912" y="987552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097280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62272" y="1764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Token Headroom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480560" y="2267712"/>
            <a:ext cx="1700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15% buffer for completion. At 128K, ~19K tokens reserved. 60 deviation items ≈ 4K tokens.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428232" y="804672"/>
            <a:ext cx="19202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28232" y="804672"/>
            <a:ext cx="1920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068312" y="987552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097280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19672" y="17647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Page Limitation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537960" y="2267712"/>
            <a:ext cx="1700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only detects explicit page breaks, not rendered breaks from layout. Page numbers may be approximate for content-heavy docs.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D6EEF7"/>
          </a:solidFill>
          <a:ln w="12700">
            <a:solidFill>
              <a:srgbClr val="D6EEF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Extensions: severity field · batch mode over directory · DOCX output · RAG fallback for oversized docs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011680"/>
            <a:ext cx="4114800" cy="4114800"/>
          </a:xfrm>
          <a:prstGeom prst="ellipse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2377440"/>
            <a:ext cx="3200400" cy="3200400"/>
          </a:xfrm>
          <a:prstGeom prst="ellipse">
            <a:avLst/>
          </a:prstGeom>
          <a:solidFill>
            <a:srgbClr val="142347"/>
          </a:solidFill>
          <a:ln w="12700">
            <a:solidFill>
              <a:srgbClr val="1423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00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2588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298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Full-context approach — both documents in one LLM call, no retrieval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1109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18836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for fast, robust PDF extraction; python-docx for Word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9631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2468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models with guaranteed bool deviation field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08152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24128" y="30540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deviations, omissions, and additions in a single pass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666744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24128" y="36393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stack: pymupdf · python-docx · openai · pydantic · tiktoken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68580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B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doc_comparison.py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Comparison Tool — Architecture</dc:title>
  <dc:subject>PptxGenJS Presentation</dc:subject>
  <dc:creator>Claude</dc:creator>
  <cp:lastModifiedBy>Claude</cp:lastModifiedBy>
  <cp:revision>1</cp:revision>
  <dcterms:created xsi:type="dcterms:W3CDTF">2026-03-29T15:58:58Z</dcterms:created>
  <dcterms:modified xsi:type="dcterms:W3CDTF">2026-03-29T15:58:58Z</dcterms:modified>
</cp:coreProperties>
</file>